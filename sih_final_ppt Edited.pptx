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9/29/2025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9/29/2025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9/29/2025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9/29/2025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9/29/2025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9/29/2025</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9/29/2025</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9/29/2025</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9/29/2025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9/29/2025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9/29/2025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9/29/2025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9/29/2025</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www.irjet.net/archives/V8/i10/IRJET-V8I10181.pdf" TargetMode="External"/><Relationship Id="rId3" Type="http://schemas.openxmlformats.org/officeDocument/2006/relationships/hyperlink" Target="https://ietresearch.onlinelibrary.wiley.com/doi/10.1049/iet-bmt.2019.0034" TargetMode="External"/><Relationship Id="rId7" Type="http://schemas.openxmlformats.org/officeDocument/2006/relationships/hyperlink" Target="https://en.wikipedia.org/wiki/Voter-verified_paper_audit_trai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papers.ssrn.com/sol3/papers.cfm?abstract_id=3908986" TargetMode="External"/><Relationship Id="rId5" Type="http://schemas.openxmlformats.org/officeDocument/2006/relationships/hyperlink" Target="https://www.sciencedirect.com/science/article/abs/pii/S2214785320366256" TargetMode="External"/><Relationship Id="rId4" Type="http://schemas.openxmlformats.org/officeDocument/2006/relationships/hyperlink" Target="https://ijaas.iaescore.com/index.php/IJAAS/article/view/9470" TargetMode="External"/><Relationship Id="rId9"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31691" y="252865"/>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2025</a:t>
            </a:r>
            <a:endParaRPr lang="en-IN" sz="4000" b="1" dirty="0">
              <a:solidFill>
                <a:schemeClr val="tx2"/>
              </a:solidFill>
              <a:latin typeface="Garamond" panose="02020404030301010803" pitchFamily="18" charset="0"/>
            </a:endParaRPr>
          </a:p>
        </p:txBody>
      </p:sp>
      <p:sp>
        <p:nvSpPr>
          <p:cNvPr id="10" name="TextBox 9"/>
          <p:cNvSpPr txBox="1"/>
          <p:nvPr/>
        </p:nvSpPr>
        <p:spPr>
          <a:xfrm>
            <a:off x="415042" y="1129165"/>
            <a:ext cx="5924550" cy="5434180"/>
          </a:xfrm>
          <a:prstGeom prst="rect">
            <a:avLst/>
          </a:prstGeom>
          <a:noFill/>
        </p:spPr>
        <p:txBody>
          <a:bodyPr wrap="square" rtlCol="0">
            <a:spAutoFit/>
          </a:bodyPr>
          <a:lstStyle/>
          <a:p>
            <a:endParaRPr lang="en-US" dirty="0"/>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ID – </a:t>
            </a:r>
            <a:r>
              <a:rPr lang="en-US" sz="2400" dirty="0">
                <a:solidFill>
                  <a:srgbClr val="2C3F42"/>
                </a:solidFill>
                <a:latin typeface="Arial" panose="020B0604020202020204" pitchFamily="34" charset="0"/>
                <a:ea typeface="Bitter Medium" pitchFamily="34" charset="-122"/>
                <a:cs typeface="Arial" panose="020B0604020202020204" pitchFamily="34" charset="0"/>
              </a:rPr>
              <a:t>SIH25110</a:t>
            </a:r>
            <a:endParaRPr lang="en-US" sz="2400" b="1"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Title -</a:t>
            </a:r>
            <a:r>
              <a:rPr lang="en-US" sz="2400" dirty="0">
                <a:solidFill>
                  <a:srgbClr val="2C3F42"/>
                </a:solidFill>
                <a:latin typeface="Bitter Medium" pitchFamily="34" charset="0"/>
                <a:ea typeface="Bitter Medium" pitchFamily="34" charset="-122"/>
                <a:cs typeface="Bitter Medium" pitchFamily="34" charset="-120"/>
              </a:rPr>
              <a:t> </a:t>
            </a:r>
            <a:r>
              <a:rPr lang="en-US" sz="2400" dirty="0">
                <a:solidFill>
                  <a:srgbClr val="2C3F42"/>
                </a:solidFill>
                <a:latin typeface="Arial" panose="020B0604020202020204" pitchFamily="34" charset="0"/>
                <a:ea typeface="Bitter Medium" pitchFamily="34" charset="-122"/>
                <a:cs typeface="Arial" panose="020B0604020202020204" pitchFamily="34" charset="0"/>
              </a:rPr>
              <a:t>Palm Vein Biometric Voting System</a:t>
            </a:r>
            <a:endParaRPr lang="en-US" sz="2400" b="1"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Theme-</a:t>
            </a:r>
            <a:r>
              <a:rPr lang="en-US" sz="2400" dirty="0">
                <a:solidFill>
                  <a:srgbClr val="2B2E3C"/>
                </a:solidFill>
                <a:latin typeface="Open Sans" pitchFamily="34" charset="0"/>
                <a:ea typeface="Open Sans" pitchFamily="34" charset="-122"/>
                <a:cs typeface="Open Sans" pitchFamily="34" charset="-120"/>
              </a:rPr>
              <a:t> </a:t>
            </a:r>
            <a:r>
              <a:rPr lang="en-US" sz="2400" dirty="0">
                <a:solidFill>
                  <a:srgbClr val="2B2E3C"/>
                </a:solidFill>
                <a:latin typeface="Arial" panose="020B0604020202020204" pitchFamily="34" charset="0"/>
                <a:ea typeface="Open Sans" pitchFamily="34" charset="-122"/>
                <a:cs typeface="Arial" panose="020B0604020202020204" pitchFamily="34" charset="0"/>
              </a:rPr>
              <a:t>Blockchain</a:t>
            </a:r>
            <a:r>
              <a:rPr lang="en-US" sz="2400" dirty="0">
                <a:solidFill>
                  <a:srgbClr val="2B2E3C"/>
                </a:solidFill>
                <a:latin typeface="Open Sans" pitchFamily="34" charset="0"/>
                <a:ea typeface="Open Sans" pitchFamily="34" charset="-122"/>
                <a:cs typeface="Open Sans" pitchFamily="34" charset="-120"/>
              </a:rPr>
              <a:t> &amp; Cybersecurity </a:t>
            </a:r>
            <a:endParaRPr lang="en-US" sz="2400" b="1"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PS Category- </a:t>
            </a:r>
            <a:r>
              <a:rPr lang="en-US" sz="2400" dirty="0">
                <a:latin typeface="Arial" panose="020B0604020202020204" pitchFamily="34" charset="0"/>
                <a:cs typeface="Arial" panose="020B0604020202020204" pitchFamily="34" charset="0"/>
              </a:rPr>
              <a:t>Software/Hardware</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ID-</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Name - </a:t>
            </a:r>
            <a:r>
              <a:rPr lang="en-US" sz="2400" dirty="0" err="1">
                <a:latin typeface="Arial" panose="020B0604020202020204" pitchFamily="34" charset="0"/>
                <a:cs typeface="Arial" panose="020B0604020202020204" pitchFamily="34" charset="0"/>
              </a:rPr>
              <a:t>Cybo-krypters</a:t>
            </a:r>
            <a:r>
              <a:rPr lang="en-US" sz="2400" dirty="0"/>
              <a:t> </a:t>
            </a:r>
            <a:endParaRPr lang="en-IN" sz="2400" b="1" dirty="0">
              <a:latin typeface="Arial" panose="020B0604020202020204" pitchFamily="34" charset="0"/>
              <a:cs typeface="Arial" panose="020B0604020202020204" pitchFamily="34" charset="0"/>
            </a:endParaRPr>
          </a:p>
        </p:txBody>
      </p:sp>
      <p:pic>
        <p:nvPicPr>
          <p:cNvPr id="1026"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6297"/>
            <a:ext cx="2209120" cy="11228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IDEA TITLE</a:t>
            </a:r>
          </a:p>
        </p:txBody>
      </p:sp>
      <p:sp>
        <p:nvSpPr>
          <p:cNvPr id="15362" name="TextBox 8"/>
          <p:cNvSpPr txBox="1">
            <a:spLocks noChangeArrowheads="1"/>
          </p:cNvSpPr>
          <p:nvPr/>
        </p:nvSpPr>
        <p:spPr bwMode="auto">
          <a:xfrm>
            <a:off x="-1" y="1468241"/>
            <a:ext cx="11582401" cy="5209118"/>
          </a:xfrm>
          <a:prstGeom prst="rect">
            <a:avLst/>
          </a:prstGeom>
          <a:noFill/>
          <a:ln w="9525">
            <a:noFill/>
            <a:miter lim="800000"/>
            <a:headEnd/>
            <a:tailEnd/>
          </a:ln>
        </p:spPr>
        <p:txBody>
          <a:bodyPr wrap="square">
            <a:spAutoFit/>
          </a:bodyPr>
          <a:lstStyle/>
          <a:p>
            <a:pPr marL="342900" indent="-342900">
              <a:buFont typeface="Wingdings" panose="05000000000000000000" pitchFamily="2" charset="2"/>
              <a:buChar char="v"/>
            </a:pPr>
            <a:r>
              <a:rPr lang="en-US" sz="2400" b="1" u="sng" dirty="0">
                <a:solidFill>
                  <a:schemeClr val="tx2"/>
                </a:solidFill>
                <a:latin typeface="Arial" pitchFamily="34" charset="0"/>
                <a:cs typeface="Arial" pitchFamily="34" charset="0"/>
              </a:rPr>
              <a:t>Proposed Solution</a:t>
            </a:r>
            <a:endParaRPr lang="en-US" sz="2400" u="sng" dirty="0">
              <a:solidFill>
                <a:schemeClr val="tx2"/>
              </a:solidFill>
              <a:latin typeface="Arial" pitchFamily="34" charset="0"/>
              <a:cs typeface="Arial" pitchFamily="34" charset="0"/>
            </a:endParaRPr>
          </a:p>
          <a:p>
            <a:pPr marL="342900" indent="-342900">
              <a:buFont typeface="Arial" panose="020B0604020202020204" pitchFamily="34" charset="0"/>
              <a:buChar char="•"/>
            </a:pPr>
            <a:endParaRPr lang="en-US" sz="2400" u="sng" dirty="0">
              <a:solidFill>
                <a:schemeClr val="tx2"/>
              </a:solidFill>
              <a:latin typeface="Arial" pitchFamily="34" charset="0"/>
              <a:cs typeface="Arial" pitchFamily="34" charset="0"/>
            </a:endParaRPr>
          </a:p>
          <a:p>
            <a:pPr marL="342900" indent="-342900" algn="just">
              <a:buFont typeface="Arial" panose="020B0604020202020204" pitchFamily="34" charset="0"/>
              <a:buChar char="•"/>
            </a:pPr>
            <a:r>
              <a:rPr lang="en-US" sz="2150" dirty="0"/>
              <a:t>This project offers a palm vein biometric voting system that uses infrared cameras and LED lights to capture unique vein patterns in the palm. It replaces less reliable methods like fingerprints or smartcards with a hygienic, contactless, and secure biometric authentication.</a:t>
            </a:r>
          </a:p>
          <a:p>
            <a:pPr marL="342900" indent="-342900" algn="just">
              <a:buFont typeface="Arial" panose="020B0604020202020204" pitchFamily="34" charset="0"/>
              <a:buChar char="•"/>
            </a:pPr>
            <a:endParaRPr lang="en-US" sz="2150" dirty="0"/>
          </a:p>
          <a:p>
            <a:pPr marL="342900" indent="-342900" algn="just">
              <a:buFont typeface="Arial" panose="020B0604020202020204" pitchFamily="34" charset="0"/>
              <a:buChar char="•"/>
            </a:pPr>
            <a:r>
              <a:rPr lang="en-US" sz="2150" dirty="0"/>
              <a:t>The system addresses voting challenges by ensuring only eligible voters can access ballots, providing an easy-to-use voting interface with audio guidance for those with disabilities, and printing a paper receipt (VVPAT) for transparency.</a:t>
            </a:r>
          </a:p>
          <a:p>
            <a:pPr marL="342900" indent="-342900" algn="just">
              <a:buFont typeface="Arial" panose="020B0604020202020204" pitchFamily="34" charset="0"/>
              <a:buChar char="•"/>
            </a:pPr>
            <a:endParaRPr lang="en-US" sz="2150" dirty="0"/>
          </a:p>
          <a:p>
            <a:pPr marL="342900" indent="-342900" algn="just">
              <a:buFont typeface="Arial" panose="020B0604020202020204" pitchFamily="34" charset="0"/>
              <a:buChar char="•"/>
            </a:pPr>
            <a:r>
              <a:rPr lang="en-US" sz="2150" dirty="0"/>
              <a:t>Its innovative use of palm vein recognition for voting is unique at the student prototype level. It combines accessible design, secure logging using AES algorithm and QKD for encryption, and affordable hardware, making electronic voting safer, inclusive, and feasible for large-scale elections.</a:t>
            </a:r>
          </a:p>
          <a:p>
            <a:br>
              <a:rPr lang="en-US" sz="2400" dirty="0"/>
            </a:br>
            <a:endParaRPr lang="en-US" sz="2400" dirty="0"/>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b="1" dirty="0" err="1"/>
              <a:t>Cybo-krypters</a:t>
            </a:r>
            <a:endParaRPr lang="en-IN" sz="1600" b="1" dirty="0"/>
          </a:p>
        </p:txBody>
      </p:sp>
      <p:pic>
        <p:nvPicPr>
          <p:cNvPr id="12"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17410" name="TextBox 8"/>
          <p:cNvSpPr txBox="1">
            <a:spLocks noChangeArrowheads="1"/>
          </p:cNvSpPr>
          <p:nvPr/>
        </p:nvSpPr>
        <p:spPr bwMode="auto">
          <a:xfrm>
            <a:off x="609600" y="1564157"/>
            <a:ext cx="9385300" cy="2246769"/>
          </a:xfrm>
          <a:prstGeom prst="rect">
            <a:avLst/>
          </a:prstGeom>
          <a:noFill/>
          <a:ln w="9525">
            <a:noFill/>
            <a:miter lim="800000"/>
            <a:headEnd/>
            <a:tailEnd/>
          </a:ln>
        </p:spPr>
        <p:txBody>
          <a:bodyPr wrap="square">
            <a:spAutoFit/>
          </a:bodyPr>
          <a:lstStyle/>
          <a:p>
            <a:r>
              <a:rPr lang="en-IN" sz="2000" b="1" dirty="0"/>
              <a:t>Technologies:</a:t>
            </a:r>
            <a:endParaRPr lang="en-IN" sz="2000" dirty="0"/>
          </a:p>
          <a:p>
            <a:pPr marL="342900" indent="-342900">
              <a:buFont typeface="Arial" panose="020B0604020202020204" pitchFamily="34" charset="0"/>
              <a:buChar char="•"/>
            </a:pPr>
            <a:r>
              <a:rPr lang="en-IN" sz="2000" b="1" dirty="0"/>
              <a:t>Language:</a:t>
            </a:r>
            <a:r>
              <a:rPr lang="en-IN" sz="2000" dirty="0"/>
              <a:t> Python, Java</a:t>
            </a:r>
          </a:p>
          <a:p>
            <a:pPr marL="342900" indent="-342900">
              <a:buFont typeface="Arial" panose="020B0604020202020204" pitchFamily="34" charset="0"/>
              <a:buChar char="•"/>
            </a:pPr>
            <a:r>
              <a:rPr lang="en-IN" sz="2000" b="1" dirty="0"/>
              <a:t>Libraries/Frameworks:</a:t>
            </a:r>
            <a:r>
              <a:rPr lang="en-IN" sz="2000" dirty="0"/>
              <a:t> OpenCV , </a:t>
            </a:r>
          </a:p>
          <a:p>
            <a:r>
              <a:rPr lang="en-IN" sz="2000" dirty="0"/>
              <a:t>	</a:t>
            </a:r>
            <a:r>
              <a:rPr lang="en-IN" sz="2000" dirty="0" err="1"/>
              <a:t>PyQt</a:t>
            </a:r>
            <a:r>
              <a:rPr lang="en-IN" sz="2000" dirty="0"/>
              <a:t>/</a:t>
            </a:r>
            <a:r>
              <a:rPr lang="en-IN" sz="2000" dirty="0" err="1"/>
              <a:t>Tkinter</a:t>
            </a:r>
            <a:r>
              <a:rPr lang="en-IN" sz="2000" dirty="0"/>
              <a:t> (GUI), </a:t>
            </a:r>
            <a:r>
              <a:rPr lang="en-IN" sz="2000" dirty="0" err="1"/>
              <a:t>PyCrypto</a:t>
            </a:r>
            <a:r>
              <a:rPr lang="en-IN" sz="2000" dirty="0"/>
              <a:t> , pyttsx3.</a:t>
            </a:r>
          </a:p>
          <a:p>
            <a:pPr marL="342900" indent="-342900">
              <a:buFont typeface="Arial" panose="020B0604020202020204" pitchFamily="34" charset="0"/>
              <a:buChar char="•"/>
            </a:pPr>
            <a:r>
              <a:rPr lang="en-IN" sz="2000" b="1" dirty="0"/>
              <a:t>Database:</a:t>
            </a:r>
            <a:r>
              <a:rPr lang="en-IN" sz="2000" dirty="0"/>
              <a:t> Postgres</a:t>
            </a:r>
          </a:p>
          <a:p>
            <a:pPr marL="342900" indent="-342900">
              <a:buFont typeface="Arial" panose="020B0604020202020204" pitchFamily="34" charset="0"/>
              <a:buChar char="•"/>
            </a:pPr>
            <a:r>
              <a:rPr lang="en-IN" sz="2000" b="1" dirty="0"/>
              <a:t>Hardware:</a:t>
            </a:r>
            <a:r>
              <a:rPr lang="en-IN" sz="2000" dirty="0"/>
              <a:t> Webcam, IR LED array, thermal printer.</a:t>
            </a:r>
          </a:p>
          <a:p>
            <a:pPr marL="342900" indent="-342900">
              <a:buFont typeface="Arial" panose="020B0604020202020204" pitchFamily="34" charset="0"/>
              <a:buChar char="•"/>
            </a:pPr>
            <a:r>
              <a:rPr lang="en-US" sz="2000" b="1" dirty="0"/>
              <a:t>Security</a:t>
            </a:r>
            <a:r>
              <a:rPr lang="en-US" sz="2000" dirty="0"/>
              <a:t>: Quantum Key Distribution (QKD)</a:t>
            </a:r>
            <a:endParaRPr lang="en-IN" sz="2000" dirty="0"/>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b="1" dirty="0" err="1"/>
              <a:t>Cybo-krypters</a:t>
            </a:r>
            <a:endParaRPr lang="en-IN" sz="1600" b="1" dirty="0"/>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116D649-72C9-18D3-FDFD-9E6F8E47FB12}"/>
              </a:ext>
            </a:extLst>
          </p:cNvPr>
          <p:cNvSpPr txBox="1"/>
          <p:nvPr/>
        </p:nvSpPr>
        <p:spPr>
          <a:xfrm>
            <a:off x="699417" y="3834046"/>
            <a:ext cx="5264518" cy="2031325"/>
          </a:xfrm>
          <a:prstGeom prst="rect">
            <a:avLst/>
          </a:prstGeom>
          <a:noFill/>
        </p:spPr>
        <p:txBody>
          <a:bodyPr wrap="none" rtlCol="0">
            <a:spAutoFit/>
          </a:bodyPr>
          <a:lstStyle/>
          <a:p>
            <a:r>
              <a:rPr lang="en-IN" b="1" dirty="0"/>
              <a:t>Methodology:</a:t>
            </a:r>
            <a:endParaRPr lang="en-IN" dirty="0"/>
          </a:p>
          <a:p>
            <a:pPr marL="285750" indent="-285750">
              <a:buFont typeface="Arial" panose="020B0604020202020204" pitchFamily="34" charset="0"/>
              <a:buChar char="•"/>
            </a:pPr>
            <a:r>
              <a:rPr lang="en-IN" dirty="0"/>
              <a:t>Capture palm vein images with IR webcam + LEDs</a:t>
            </a:r>
          </a:p>
          <a:p>
            <a:pPr marL="285750" indent="-285750">
              <a:buFont typeface="Arial" panose="020B0604020202020204" pitchFamily="34" charset="0"/>
              <a:buChar char="•"/>
            </a:pPr>
            <a:r>
              <a:rPr lang="en-IN" dirty="0"/>
              <a:t>Preprocess and extract features using OpenCV</a:t>
            </a:r>
          </a:p>
          <a:p>
            <a:pPr marL="285750" indent="-285750">
              <a:buFont typeface="Arial" panose="020B0604020202020204" pitchFamily="34" charset="0"/>
              <a:buChar char="•"/>
            </a:pPr>
            <a:r>
              <a:rPr lang="en-IN" dirty="0"/>
              <a:t>Match live data with encrypted templates in SQLite</a:t>
            </a:r>
          </a:p>
          <a:p>
            <a:pPr marL="285750" indent="-285750">
              <a:buFont typeface="Arial" panose="020B0604020202020204" pitchFamily="34" charset="0"/>
              <a:buChar char="•"/>
            </a:pPr>
            <a:r>
              <a:rPr lang="en-IN" dirty="0"/>
              <a:t>On success, open voting interface with GUI + audio</a:t>
            </a:r>
          </a:p>
          <a:p>
            <a:pPr marL="285750" indent="-285750">
              <a:buFont typeface="Arial" panose="020B0604020202020204" pitchFamily="34" charset="0"/>
              <a:buChar char="•"/>
            </a:pPr>
            <a:r>
              <a:rPr lang="en-IN" dirty="0"/>
              <a:t>Cast vote and print VVPAT slip</a:t>
            </a:r>
          </a:p>
          <a:p>
            <a:pPr marL="285750" indent="-285750">
              <a:buFont typeface="Arial" panose="020B0604020202020204" pitchFamily="34" charset="0"/>
              <a:buChar char="•"/>
            </a:pPr>
            <a:r>
              <a:rPr lang="en-IN" dirty="0"/>
              <a:t>Record actions in secure, hash-chained log</a:t>
            </a:r>
          </a:p>
        </p:txBody>
      </p:sp>
      <p:pic>
        <p:nvPicPr>
          <p:cNvPr id="4" name="Picture 3">
            <a:extLst>
              <a:ext uri="{FF2B5EF4-FFF2-40B4-BE49-F238E27FC236}">
                <a16:creationId xmlns:a16="http://schemas.microsoft.com/office/drawing/2014/main" id="{2BC21EB3-193F-47BC-74FD-C6DB590F8EB5}"/>
              </a:ext>
            </a:extLst>
          </p:cNvPr>
          <p:cNvPicPr>
            <a:picLocks noChangeAspect="1"/>
          </p:cNvPicPr>
          <p:nvPr/>
        </p:nvPicPr>
        <p:blipFill>
          <a:blip r:embed="rId4"/>
          <a:stretch>
            <a:fillRect/>
          </a:stretch>
        </p:blipFill>
        <p:spPr>
          <a:xfrm>
            <a:off x="6676366" y="818578"/>
            <a:ext cx="3618025" cy="542915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17410" name="TextBox 8"/>
          <p:cNvSpPr txBox="1">
            <a:spLocks noChangeArrowheads="1"/>
          </p:cNvSpPr>
          <p:nvPr/>
        </p:nvSpPr>
        <p:spPr bwMode="auto">
          <a:xfrm>
            <a:off x="609600" y="1247856"/>
            <a:ext cx="9385300" cy="2092881"/>
          </a:xfrm>
          <a:prstGeom prst="rect">
            <a:avLst/>
          </a:prstGeom>
          <a:noFill/>
          <a:ln w="9525">
            <a:noFill/>
            <a:miter lim="800000"/>
            <a:headEnd/>
            <a:tailEnd/>
          </a:ln>
        </p:spPr>
        <p:txBody>
          <a:bodyPr wrap="square">
            <a:spAutoFit/>
          </a:bodyPr>
          <a:lstStyle/>
          <a:p>
            <a:r>
              <a:rPr lang="en-IN" sz="2600" b="1" dirty="0"/>
              <a:t>Feasibility</a:t>
            </a:r>
            <a:endParaRPr lang="en-IN" sz="2600" dirty="0"/>
          </a:p>
          <a:p>
            <a:pPr marL="457200" indent="-457200">
              <a:buFont typeface="Arial" panose="020B0604020202020204" pitchFamily="34" charset="0"/>
              <a:buChar char="•"/>
            </a:pPr>
            <a:r>
              <a:rPr lang="en-IN" sz="2600" dirty="0"/>
              <a:t>Low-cost, available hardware (IR webcam, LEDs, printer)</a:t>
            </a:r>
          </a:p>
          <a:p>
            <a:pPr marL="457200" indent="-457200">
              <a:buFont typeface="Arial" panose="020B0604020202020204" pitchFamily="34" charset="0"/>
              <a:buChar char="•"/>
            </a:pPr>
            <a:r>
              <a:rPr lang="en-IN" sz="2600" dirty="0"/>
              <a:t>Open-source libraries for fast development</a:t>
            </a:r>
          </a:p>
          <a:p>
            <a:pPr marL="457200" indent="-457200">
              <a:buFont typeface="Arial" panose="020B0604020202020204" pitchFamily="34" charset="0"/>
              <a:buChar char="•"/>
            </a:pPr>
            <a:r>
              <a:rPr lang="en-IN" sz="2600" dirty="0"/>
              <a:t>Prototype tested with team palm images</a:t>
            </a:r>
          </a:p>
          <a:p>
            <a:pPr marL="457200" indent="-457200">
              <a:buFont typeface="Arial" panose="020B0604020202020204" pitchFamily="34" charset="0"/>
              <a:buChar char="•"/>
            </a:pPr>
            <a:r>
              <a:rPr lang="en-IN" sz="2600" dirty="0"/>
              <a:t>Scalable beyond student-level demo</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b="1" dirty="0" err="1"/>
              <a:t>Cybo-krypters</a:t>
            </a:r>
            <a:endParaRPr lang="en-IN" sz="1600" b="1" dirty="0"/>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01A6E78-94FE-82DF-2F4A-4A8FC7DD4336}"/>
              </a:ext>
            </a:extLst>
          </p:cNvPr>
          <p:cNvSpPr txBox="1"/>
          <p:nvPr/>
        </p:nvSpPr>
        <p:spPr>
          <a:xfrm>
            <a:off x="632132" y="3517264"/>
            <a:ext cx="5925661" cy="2492990"/>
          </a:xfrm>
          <a:prstGeom prst="rect">
            <a:avLst/>
          </a:prstGeom>
          <a:noFill/>
        </p:spPr>
        <p:txBody>
          <a:bodyPr wrap="none" rtlCol="0">
            <a:spAutoFit/>
          </a:bodyPr>
          <a:lstStyle/>
          <a:p>
            <a:r>
              <a:rPr lang="en-IN" sz="2600" b="1" dirty="0"/>
              <a:t>Viability </a:t>
            </a:r>
            <a:endParaRPr lang="en-IN" sz="2600" dirty="0"/>
          </a:p>
          <a:p>
            <a:pPr marL="457200" indent="-457200">
              <a:buFont typeface="Arial" panose="020B0604020202020204" pitchFamily="34" charset="0"/>
              <a:buChar char="•"/>
            </a:pPr>
            <a:r>
              <a:rPr lang="en-IN" sz="2600" dirty="0"/>
              <a:t>Image preprocessing &amp; noise reduction</a:t>
            </a:r>
          </a:p>
          <a:p>
            <a:pPr marL="457200" indent="-457200">
              <a:buFont typeface="Arial" panose="020B0604020202020204" pitchFamily="34" charset="0"/>
              <a:buChar char="•"/>
            </a:pPr>
            <a:r>
              <a:rPr lang="en-IN" sz="2600" dirty="0"/>
              <a:t>Encryption + secure template storage</a:t>
            </a:r>
          </a:p>
          <a:p>
            <a:pPr marL="457200" indent="-457200">
              <a:buFont typeface="Arial" panose="020B0604020202020204" pitchFamily="34" charset="0"/>
              <a:buChar char="•"/>
            </a:pPr>
            <a:r>
              <a:rPr lang="en-IN" sz="2600" dirty="0"/>
              <a:t>Regular calibration, modular hardware</a:t>
            </a:r>
          </a:p>
          <a:p>
            <a:pPr marL="457200" indent="-457200">
              <a:buFont typeface="Arial" panose="020B0604020202020204" pitchFamily="34" charset="0"/>
              <a:buChar char="•"/>
            </a:pPr>
            <a:r>
              <a:rPr lang="en-IN" sz="2600" dirty="0"/>
              <a:t>Audio guidance &amp; simple interface</a:t>
            </a:r>
          </a:p>
          <a:p>
            <a:pPr marL="457200" indent="-457200">
              <a:buFont typeface="Arial" panose="020B0604020202020204" pitchFamily="34" charset="0"/>
              <a:buChar char="•"/>
            </a:pPr>
            <a:r>
              <a:rPr lang="en-IN" sz="2600" dirty="0"/>
              <a:t>Hash-chained logs + VVPAT receipts</a:t>
            </a:r>
          </a:p>
        </p:txBody>
      </p:sp>
      <p:sp>
        <p:nvSpPr>
          <p:cNvPr id="3" name="TextBox 2">
            <a:extLst>
              <a:ext uri="{FF2B5EF4-FFF2-40B4-BE49-F238E27FC236}">
                <a16:creationId xmlns:a16="http://schemas.microsoft.com/office/drawing/2014/main" id="{D0082058-E588-E016-BC61-00984F1B5B38}"/>
              </a:ext>
            </a:extLst>
          </p:cNvPr>
          <p:cNvSpPr txBox="1"/>
          <p:nvPr/>
        </p:nvSpPr>
        <p:spPr>
          <a:xfrm>
            <a:off x="1222642" y="3618271"/>
            <a:ext cx="45719" cy="369332"/>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17410" name="TextBox 8"/>
          <p:cNvSpPr txBox="1">
            <a:spLocks noChangeArrowheads="1"/>
          </p:cNvSpPr>
          <p:nvPr/>
        </p:nvSpPr>
        <p:spPr bwMode="auto">
          <a:xfrm>
            <a:off x="1150375" y="1142254"/>
            <a:ext cx="9385300" cy="5201424"/>
          </a:xfrm>
          <a:prstGeom prst="rect">
            <a:avLst/>
          </a:prstGeom>
          <a:noFill/>
          <a:ln w="9525">
            <a:noFill/>
            <a:miter lim="800000"/>
            <a:headEnd/>
            <a:tailEnd/>
          </a:ln>
        </p:spPr>
        <p:txBody>
          <a:bodyPr wrap="square">
            <a:spAutoFit/>
          </a:bodyPr>
          <a:lstStyle/>
          <a:p>
            <a:r>
              <a:rPr lang="en-IN" sz="2000" b="1" dirty="0"/>
              <a:t>🔮 </a:t>
            </a:r>
            <a:r>
              <a:rPr lang="en-IN" sz="2400" b="1" dirty="0"/>
              <a:t>Potential Impact</a:t>
            </a:r>
            <a:endParaRPr lang="en-IN" sz="2400" dirty="0"/>
          </a:p>
          <a:p>
            <a:pPr marL="342900" indent="-342900">
              <a:buFont typeface="Arial" panose="020B0604020202020204" pitchFamily="34" charset="0"/>
              <a:buChar char="•"/>
            </a:pPr>
            <a:r>
              <a:rPr lang="en-IN" sz="2000" dirty="0"/>
              <a:t>Secure, independent voting for </a:t>
            </a:r>
            <a:r>
              <a:rPr lang="en-IN" sz="2000" b="1" dirty="0"/>
              <a:t>elderly, disabled, visually impaired</a:t>
            </a:r>
            <a:r>
              <a:rPr lang="en-IN" sz="2000" dirty="0"/>
              <a:t>.</a:t>
            </a:r>
          </a:p>
          <a:p>
            <a:pPr marL="342900" indent="-342900">
              <a:buFont typeface="Arial" panose="020B0604020202020204" pitchFamily="34" charset="0"/>
              <a:buChar char="•"/>
            </a:pPr>
            <a:r>
              <a:rPr lang="en-IN" sz="2000" dirty="0"/>
              <a:t>Prevents fraud &amp; unauthorized voting with </a:t>
            </a:r>
            <a:r>
              <a:rPr lang="en-IN" sz="2000" b="1" dirty="0"/>
              <a:t>advanced biometrics + QKD-secured blockchain</a:t>
            </a:r>
            <a:r>
              <a:rPr lang="en-IN" sz="2000" dirty="0"/>
              <a:t>.</a:t>
            </a:r>
          </a:p>
          <a:p>
            <a:pPr marL="342900" indent="-342900">
              <a:buFont typeface="Arial" panose="020B0604020202020204" pitchFamily="34" charset="0"/>
              <a:buChar char="•"/>
            </a:pPr>
            <a:r>
              <a:rPr lang="en-IN" sz="2000" dirty="0"/>
              <a:t>Enhances </a:t>
            </a:r>
            <a:r>
              <a:rPr lang="en-IN" sz="2000" b="1" dirty="0"/>
              <a:t>trust &amp; transparency</a:t>
            </a:r>
            <a:r>
              <a:rPr lang="en-IN" sz="2000" dirty="0"/>
              <a:t> in democratic processes.</a:t>
            </a:r>
          </a:p>
          <a:p>
            <a:pPr marL="342900" indent="-342900">
              <a:buFont typeface="Arial" panose="020B0604020202020204" pitchFamily="34" charset="0"/>
              <a:buChar char="•"/>
            </a:pPr>
            <a:r>
              <a:rPr lang="en-IN" sz="2000" dirty="0"/>
              <a:t>Provides </a:t>
            </a:r>
            <a:r>
              <a:rPr lang="en-IN" sz="2000" b="1" dirty="0"/>
              <a:t>scalable model</a:t>
            </a:r>
            <a:r>
              <a:rPr lang="en-IN" sz="2000" dirty="0"/>
              <a:t> for large-scale elections.</a:t>
            </a:r>
          </a:p>
          <a:p>
            <a:pPr marL="342900" indent="-342900">
              <a:buFont typeface="Arial" panose="020B0604020202020204" pitchFamily="34" charset="0"/>
              <a:buChar char="•"/>
            </a:pPr>
            <a:endParaRPr lang="en-IN" sz="2400" dirty="0"/>
          </a:p>
          <a:p>
            <a:r>
              <a:rPr lang="en-IN" sz="2400" b="1" dirty="0"/>
              <a:t>✅ Benefits of the Solution</a:t>
            </a:r>
            <a:endParaRPr lang="en-IN" sz="2400" dirty="0"/>
          </a:p>
          <a:p>
            <a:pPr marL="342900" indent="-342900">
              <a:buFont typeface="Arial" panose="020B0604020202020204" pitchFamily="34" charset="0"/>
              <a:buChar char="•"/>
            </a:pPr>
            <a:r>
              <a:rPr lang="en-IN" sz="2000" b="1" dirty="0"/>
              <a:t>Equity &amp; Inclusion</a:t>
            </a:r>
            <a:r>
              <a:rPr lang="en-IN" sz="2000" dirty="0"/>
              <a:t>: Every voter gets </a:t>
            </a:r>
            <a:r>
              <a:rPr lang="en-IN" sz="2000" b="1" dirty="0"/>
              <a:t>equal &amp; fair access</a:t>
            </a:r>
            <a:r>
              <a:rPr lang="en-IN" sz="2000" dirty="0"/>
              <a:t>.</a:t>
            </a:r>
          </a:p>
          <a:p>
            <a:pPr marL="342900" indent="-342900">
              <a:buFont typeface="Arial" panose="020B0604020202020204" pitchFamily="34" charset="0"/>
              <a:buChar char="•"/>
            </a:pPr>
            <a:r>
              <a:rPr lang="en-IN" sz="2000" b="1" dirty="0"/>
              <a:t>Cost-Effective</a:t>
            </a:r>
            <a:r>
              <a:rPr lang="en-IN" sz="2000" dirty="0"/>
              <a:t>: Affordable hardware + open-source stack = reduced election expenses.</a:t>
            </a:r>
          </a:p>
          <a:p>
            <a:pPr marL="342900" indent="-342900">
              <a:buFont typeface="Arial" panose="020B0604020202020204" pitchFamily="34" charset="0"/>
              <a:buChar char="•"/>
            </a:pPr>
            <a:r>
              <a:rPr lang="en-IN" sz="2000" b="1" dirty="0"/>
              <a:t>Tamper-Proof</a:t>
            </a:r>
            <a:r>
              <a:rPr lang="en-IN" sz="2000" dirty="0"/>
              <a:t>: Blockchain ledger + QKD = future-proof security.</a:t>
            </a:r>
          </a:p>
          <a:p>
            <a:pPr marL="342900" indent="-342900">
              <a:buFont typeface="Arial" panose="020B0604020202020204" pitchFamily="34" charset="0"/>
              <a:buChar char="•"/>
            </a:pPr>
            <a:r>
              <a:rPr lang="en-IN" sz="2000" b="1" dirty="0"/>
              <a:t>Transparency</a:t>
            </a:r>
            <a:r>
              <a:rPr lang="en-IN" sz="2000" dirty="0"/>
              <a:t>: VVPAT + audit logs ensure verifiable election trail.</a:t>
            </a:r>
          </a:p>
          <a:p>
            <a:pPr marL="342900" indent="-342900">
              <a:buFont typeface="Arial" panose="020B0604020202020204" pitchFamily="34" charset="0"/>
              <a:buChar char="•"/>
            </a:pPr>
            <a:r>
              <a:rPr lang="en-IN" sz="2000" b="1" dirty="0"/>
              <a:t>Innovation Catalyst</a:t>
            </a:r>
            <a:r>
              <a:rPr lang="en-IN" sz="2000" dirty="0"/>
              <a:t>: Opens scope for biometric verification in </a:t>
            </a:r>
            <a:r>
              <a:rPr lang="en-IN" sz="2000" b="1" dirty="0"/>
              <a:t>government services &amp; schemes</a:t>
            </a:r>
            <a:r>
              <a:rPr lang="en-IN" sz="2000" dirty="0"/>
              <a:t>.</a:t>
            </a:r>
          </a:p>
          <a:p>
            <a:pPr marL="342900" indent="-342900">
              <a:buFont typeface="Arial" panose="020B0604020202020204" pitchFamily="34" charset="0"/>
              <a:buChar char="•"/>
            </a:pPr>
            <a:r>
              <a:rPr lang="en-IN" sz="2000" b="1" dirty="0"/>
              <a:t>Academic Contribution</a:t>
            </a:r>
            <a:r>
              <a:rPr lang="en-IN" sz="2000" dirty="0"/>
              <a:t>: Demonstrates feasibility for </a:t>
            </a:r>
            <a:r>
              <a:rPr lang="en-IN" sz="2000" b="1" dirty="0"/>
              <a:t>student/hackathon innovation</a:t>
            </a:r>
            <a:r>
              <a:rPr lang="en-IN" sz="2000" dirty="0"/>
              <a:t>.</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b="1" dirty="0" err="1"/>
              <a:t>Cybo</a:t>
            </a:r>
            <a:r>
              <a:rPr lang="en-US" sz="1600" b="1" dirty="0"/>
              <a:t> -</a:t>
            </a:r>
            <a:r>
              <a:rPr lang="en-US" sz="1600" b="1" dirty="0" err="1"/>
              <a:t>krypters</a:t>
            </a:r>
            <a:endParaRPr lang="en-IN" sz="1600" b="1" dirty="0"/>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875071" y="1479836"/>
            <a:ext cx="10972800" cy="4524315"/>
          </a:xfrm>
          <a:prstGeom prst="rect">
            <a:avLst/>
          </a:prstGeom>
          <a:noFill/>
          <a:ln w="9525">
            <a:noFill/>
            <a:miter lim="800000"/>
            <a:headEnd/>
            <a:tailEnd/>
          </a:ln>
        </p:spPr>
        <p:txBody>
          <a:bodyPr wrap="square">
            <a:spAutoFit/>
          </a:bodyPr>
          <a:lstStyle/>
          <a:p>
            <a:pPr marL="342900" indent="-342900">
              <a:buFont typeface="Arial" panose="020B0604020202020204" pitchFamily="34" charset="0"/>
              <a:buChar char="•"/>
            </a:pPr>
            <a:r>
              <a:rPr lang="en-IN" sz="2400" dirty="0"/>
              <a:t>Review of palm vein recognition (IET Biometrics):</a:t>
            </a:r>
            <a:br>
              <a:rPr lang="en-IN" sz="2400" dirty="0"/>
            </a:br>
            <a:r>
              <a:rPr lang="en-IN" sz="2400" dirty="0">
                <a:hlinkClick r:id="rId3"/>
              </a:rPr>
              <a:t>https://ietresearch.onlinelibrary.wiley.com/doi/10.1049/iet-bmt.2019.0034</a:t>
            </a:r>
            <a:endParaRPr lang="en-IN" sz="2400" dirty="0"/>
          </a:p>
          <a:p>
            <a:pPr marL="342900" indent="-342900">
              <a:buFont typeface="Arial" panose="020B0604020202020204" pitchFamily="34" charset="0"/>
              <a:buChar char="•"/>
            </a:pPr>
            <a:r>
              <a:rPr lang="en-IN" sz="2400" dirty="0"/>
              <a:t>An Open Source Contact-Free Palm Vein Recognition System:</a:t>
            </a:r>
            <a:br>
              <a:rPr lang="en-IN" sz="2400" dirty="0"/>
            </a:br>
            <a:r>
              <a:rPr lang="en-IN" sz="2400" dirty="0">
                <a:hlinkClick r:id="rId4"/>
              </a:rPr>
              <a:t>https://ijaas.iaescore.com/index.php/IJAAS/article/view/9470</a:t>
            </a:r>
            <a:endParaRPr lang="en-IN" sz="2400" dirty="0"/>
          </a:p>
          <a:p>
            <a:pPr marL="342900" indent="-342900">
              <a:buFont typeface="Arial" panose="020B0604020202020204" pitchFamily="34" charset="0"/>
              <a:buChar char="•"/>
            </a:pPr>
            <a:r>
              <a:rPr lang="en-IN" sz="2400" dirty="0"/>
              <a:t>An extensive survey on finger and palm vein recognition (ScienceDirect):</a:t>
            </a:r>
            <a:br>
              <a:rPr lang="en-IN" sz="2400" dirty="0"/>
            </a:br>
            <a:r>
              <a:rPr lang="en-IN" sz="2400" dirty="0">
                <a:hlinkClick r:id="rId5"/>
              </a:rPr>
              <a:t>https://www.sciencedirect.com/science/article/abs/pii/S2214785320366256</a:t>
            </a:r>
            <a:endParaRPr lang="en-IN" sz="2400" dirty="0"/>
          </a:p>
          <a:p>
            <a:pPr marL="342900" indent="-342900">
              <a:buFont typeface="Arial" panose="020B0604020202020204" pitchFamily="34" charset="0"/>
              <a:buChar char="•"/>
            </a:pPr>
            <a:r>
              <a:rPr lang="en-IN" sz="2400" dirty="0"/>
              <a:t>Palm Vein Technology by Aditya Bhargav </a:t>
            </a:r>
            <a:r>
              <a:rPr lang="en-IN" sz="2400" dirty="0" err="1"/>
              <a:t>Vankamamidi</a:t>
            </a:r>
            <a:r>
              <a:rPr lang="en-IN" sz="2400" dirty="0"/>
              <a:t> (SSRN):</a:t>
            </a:r>
            <a:br>
              <a:rPr lang="en-IN" sz="2400" dirty="0"/>
            </a:br>
            <a:r>
              <a:rPr lang="en-IN" sz="2400" dirty="0">
                <a:hlinkClick r:id="rId6"/>
              </a:rPr>
              <a:t>https://papers.ssrn.com/sol3/papers.cfm?abstract_id=3908986</a:t>
            </a:r>
            <a:endParaRPr lang="en-IN" sz="2400" dirty="0"/>
          </a:p>
          <a:p>
            <a:pPr marL="342900" indent="-342900">
              <a:buFont typeface="Arial" panose="020B0604020202020204" pitchFamily="34" charset="0"/>
              <a:buChar char="•"/>
            </a:pPr>
            <a:r>
              <a:rPr lang="en-IN" sz="2400" dirty="0"/>
              <a:t>Voter-verified paper audit trail (Wikipedia):</a:t>
            </a:r>
            <a:br>
              <a:rPr lang="en-IN" sz="2400" dirty="0"/>
            </a:br>
            <a:r>
              <a:rPr lang="en-IN" sz="2400" dirty="0">
                <a:hlinkClick r:id="rId7"/>
              </a:rPr>
              <a:t>https://en.wikipedia.org/wiki/Voter-verified_paper_audit_trail</a:t>
            </a:r>
            <a:endParaRPr lang="en-IN" sz="2400" dirty="0"/>
          </a:p>
          <a:p>
            <a:pPr marL="342900" indent="-342900">
              <a:buFont typeface="Arial" panose="020B0604020202020204" pitchFamily="34" charset="0"/>
              <a:buChar char="•"/>
            </a:pPr>
            <a:r>
              <a:rPr lang="en-IN" sz="2400" dirty="0"/>
              <a:t>A Study on Palm Vein Recognition Technologies (IRJET):</a:t>
            </a:r>
            <a:br>
              <a:rPr lang="en-IN" sz="2400" dirty="0"/>
            </a:br>
            <a:r>
              <a:rPr lang="en-IN" sz="2400" dirty="0">
                <a:hlinkClick r:id="rId8"/>
              </a:rPr>
              <a:t>https://www.irjet.net/archives/V8/i10/IRJET-V8I10181.pdf</a:t>
            </a:r>
            <a:endParaRPr lang="en-IN" sz="2400" dirty="0"/>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b="1" dirty="0" err="1"/>
              <a:t>Cybo-krypters</a:t>
            </a:r>
            <a:endParaRPr lang="en-IN" sz="1600" b="1" dirty="0"/>
          </a:p>
        </p:txBody>
      </p:sp>
      <p:pic>
        <p:nvPicPr>
          <p:cNvPr id="11" name="Picture 2" descr="https://www.sih.gov.in/img1/SIH-Logo.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7796</TotalTime>
  <Words>658</Words>
  <Application>Microsoft Office PowerPoint</Application>
  <PresentationFormat>Widescreen</PresentationFormat>
  <Paragraphs>85</Paragraphs>
  <Slides>6</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vt:i4>
      </vt:variant>
    </vt:vector>
  </HeadingPairs>
  <TitlesOfParts>
    <vt:vector size="16" baseType="lpstr">
      <vt:lpstr>ＭＳ Ｐゴシック</vt:lpstr>
      <vt:lpstr>Arial</vt:lpstr>
      <vt:lpstr>Bitter Medium</vt:lpstr>
      <vt:lpstr>Calibri</vt:lpstr>
      <vt:lpstr>Garamond</vt:lpstr>
      <vt:lpstr>Open Sans</vt:lpstr>
      <vt:lpstr>Times New Roman</vt:lpstr>
      <vt:lpstr>TradeGothic</vt:lpstr>
      <vt:lpstr>Wingdings</vt:lpstr>
      <vt:lpstr>Office Theme</vt:lpstr>
      <vt:lpstr>SMART INDIA HACKATHON 2025</vt:lpstr>
      <vt:lpstr> IDEA TITLE</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dharani dharan</cp:lastModifiedBy>
  <cp:revision>152</cp:revision>
  <dcterms:created xsi:type="dcterms:W3CDTF">2013-12-12T18:46:50Z</dcterms:created>
  <dcterms:modified xsi:type="dcterms:W3CDTF">2025-09-29T03:53:58Z</dcterms:modified>
  <cp:category/>
</cp:coreProperties>
</file>